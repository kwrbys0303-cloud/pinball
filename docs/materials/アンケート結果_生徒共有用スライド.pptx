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アンケートに答えてくれたことへのお礼から入る。「みんなの意見でステージをつくる」ことを確認する。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10人が「たのしい」。まずここを全員で確認する。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一つひとつ読み上げる。否定せず、全部並べることが大事。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同じ意見が2人ずついることを見せる。「自分だけじゃない」と気づける場面。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「どうぐをつくる」が一番多い。劇に小道具が必要なので、ここが活きる。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お客さんへの気持ちが全員から出ている。ここが発表の目的になる。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ここは丁寧に。「いやだと言えたこと」を価値づける。特に『一人だけになるのがいや』は演出に直結する。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アンケートに参加できなかった友だちの意見も、同じ重さで扱うことを示す。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バラバラに見えた意見が、一つの形にまとまりそうだと示す。ここで期待感を持たせる。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3つだけ聞く。答えは板書やホワイトボードに残して、次回につなげる。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9616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1153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みんなの こたえが</a:t>
            </a:r>
            <a:endParaRPr lang="en-US" sz="5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あつまりました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640080" y="3931920"/>
            <a:ext cx="5669280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393192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文化祭アンケート けっか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0292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キボウグループ　11人が こたえてくれました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Q1　ステージが おわったとき、どんな きもちに なりたい？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173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たのしい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3977640" y="1492758"/>
            <a:ext cx="6035040" cy="352044"/>
          </a:xfrm>
          <a:prstGeom prst="roundRect">
            <a:avLst>
              <a:gd name="adj" fmla="val 15584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22408" y="141732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10人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3055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おもしろい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977640" y="2205990"/>
            <a:ext cx="3621024" cy="352044"/>
          </a:xfrm>
          <a:prstGeom prst="roundRect">
            <a:avLst>
              <a:gd name="adj" fmla="val 15584"/>
            </a:avLst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08392" y="213055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6人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84378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かっこいい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977640" y="2919222"/>
            <a:ext cx="3017520" cy="352044"/>
          </a:xfrm>
          <a:prstGeom prst="roundRect">
            <a:avLst>
              <a:gd name="adj" fmla="val 15584"/>
            </a:avLst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04888" y="2843784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5人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55701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かんどう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3977640" y="3632454"/>
            <a:ext cx="1810512" cy="352044"/>
          </a:xfrm>
          <a:prstGeom prst="roundRect">
            <a:avLst>
              <a:gd name="adj" fmla="val 15584"/>
            </a:avLst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897880" y="3557016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3人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27024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びっくり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3977640" y="4345686"/>
            <a:ext cx="1810512" cy="352044"/>
          </a:xfrm>
          <a:prstGeom prst="roundRect">
            <a:avLst>
              <a:gd name="adj" fmla="val 15584"/>
            </a:avLst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897880" y="427024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3人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40080" y="5394960"/>
            <a:ext cx="10911535" cy="658368"/>
          </a:xfrm>
          <a:prstGeom prst="roundRect">
            <a:avLst>
              <a:gd name="adj" fmla="val 16667"/>
            </a:avLst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8680" y="5394960"/>
            <a:ext cx="104543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ほとんど ぜんいんが「たのしい」を えらびました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Q2　やってみたいこと・おもしろそうなこと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5272888" cy="3063240"/>
          </a:xfrm>
          <a:prstGeom prst="roundRect">
            <a:avLst>
              <a:gd name="adj" fmla="val 3582"/>
            </a:avLst>
          </a:prstGeom>
          <a:solidFill>
            <a:srgbClr val="FDF3F3"/>
          </a:solidFill>
          <a:ln w="12700">
            <a:solidFill>
              <a:srgbClr val="FDF3F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78728" y="1325880"/>
            <a:ext cx="5272888" cy="3063240"/>
          </a:xfrm>
          <a:prstGeom prst="roundRect">
            <a:avLst>
              <a:gd name="adj" fmla="val 3582"/>
            </a:avLst>
          </a:prstGeom>
          <a:solidFill>
            <a:srgbClr val="FDF3F3"/>
          </a:solidFill>
          <a:ln w="12700">
            <a:solidFill>
              <a:srgbClr val="FDF3F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572768"/>
            <a:ext cx="472424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たたかい／けんどう／ミニファンタジー／学園ものがたり</a:t>
            </a:r>
            <a:endParaRPr lang="en-US" sz="1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きょ年の「できませーん」を もう一回やりたい</a:t>
            </a:r>
            <a:endParaRPr lang="en-US" sz="1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かたなで たたかい／クイズ／野球けい／じゅうの うちあい／おうえん</a:t>
            </a:r>
            <a:endParaRPr lang="en-US" sz="1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わるやく</a:t>
            </a:r>
            <a:endParaRPr lang="en-US" sz="1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がっしょう／パントマイム／大喜利／クイズ大会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553048" y="1572768"/>
            <a:ext cx="472424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げき／ウクレレで 一曲 歌いながら ひく</a:t>
            </a:r>
            <a:endParaRPr lang="en-US" sz="1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みんなで がっしょう</a:t>
            </a:r>
            <a:endParaRPr lang="en-US" sz="1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カラオケの曲で もりあげたい／「○○は？」「出ませーん」</a:t>
            </a:r>
            <a:endParaRPr lang="en-US" sz="1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ダンス</a:t>
            </a:r>
            <a:endParaRPr lang="en-US" sz="1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ウクレレ やりたい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4754880"/>
            <a:ext cx="10911535" cy="658368"/>
          </a:xfrm>
          <a:prstGeom prst="roundRect">
            <a:avLst>
              <a:gd name="adj" fmla="val 16667"/>
            </a:avLst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4754880"/>
            <a:ext cx="104543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10人が かいてくれました（1人は 書かずに ていしゅつ）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Q2　おなじ いけんを まとめると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332378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81328"/>
            <a:ext cx="3058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たたかい・アクション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938528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2人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429658" y="1371600"/>
            <a:ext cx="3332378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66818" y="1481328"/>
            <a:ext cx="3058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クイズ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66818" y="1938528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2人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8219237" y="1371600"/>
            <a:ext cx="3332378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56397" y="1481328"/>
            <a:ext cx="3058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がっしょう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356397" y="1938528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2人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40080" y="2743200"/>
            <a:ext cx="3332378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852928"/>
            <a:ext cx="3058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ウクレレ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310128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2人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429658" y="2743200"/>
            <a:ext cx="3332378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66818" y="2852928"/>
            <a:ext cx="3058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げき・ものがたり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566818" y="3310128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2人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8219237" y="2743200"/>
            <a:ext cx="3332378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56397" y="2852928"/>
            <a:ext cx="3058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わるやく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356397" y="3310128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2人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420624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1人ずつ：ダンス／パントマイム／大喜利／おうえん／「できませーん」もう一回は 2人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0080" y="5029200"/>
            <a:ext cx="10911535" cy="658368"/>
          </a:xfrm>
          <a:prstGeom prst="roundRect">
            <a:avLst>
              <a:gd name="adj" fmla="val 16667"/>
            </a:avLst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68680" y="5029200"/>
            <a:ext cx="104543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いろんな アイデアが 出ました。にた いけんも たくさん！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Q3　じぶんが やりたい やくわりは？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25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どうぐを つくる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3977640" y="1387602"/>
            <a:ext cx="6035040" cy="288036"/>
          </a:xfrm>
          <a:prstGeom prst="roundRect">
            <a:avLst>
              <a:gd name="adj" fmla="val 19048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22408" y="13258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6人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5623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うたを うたう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977640" y="1917954"/>
            <a:ext cx="5029200" cy="288036"/>
          </a:xfrm>
          <a:prstGeom prst="roundRect">
            <a:avLst>
              <a:gd name="adj" fmla="val 19048"/>
            </a:avLst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16568" y="1856232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5人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38658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しゃべる（せりふ）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977640" y="2448306"/>
            <a:ext cx="5029200" cy="288036"/>
          </a:xfrm>
          <a:prstGeom prst="roundRect">
            <a:avLst>
              <a:gd name="adj" fmla="val 19048"/>
            </a:avLst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16568" y="2386584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5人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2916936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ウクレレを ひく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3977640" y="2978658"/>
            <a:ext cx="4023360" cy="288036"/>
          </a:xfrm>
          <a:prstGeom prst="roundRect">
            <a:avLst>
              <a:gd name="adj" fmla="val 19048"/>
            </a:avLst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10728" y="2916936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4人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44728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おどる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3977640" y="3509010"/>
            <a:ext cx="2011680" cy="288036"/>
          </a:xfrm>
          <a:prstGeom prst="roundRect">
            <a:avLst>
              <a:gd name="adj" fmla="val 19048"/>
            </a:avLst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099048" y="344728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2人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977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いしょうを つくる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3977640" y="4039362"/>
            <a:ext cx="2011680" cy="288036"/>
          </a:xfrm>
          <a:prstGeom prst="roundRect">
            <a:avLst>
              <a:gd name="adj" fmla="val 19048"/>
            </a:avLst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099048" y="397764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2人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450799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きめるのを てつだう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3977640" y="4569714"/>
            <a:ext cx="2011680" cy="288036"/>
          </a:xfrm>
          <a:prstGeom prst="roundRect">
            <a:avLst>
              <a:gd name="adj" fmla="val 19048"/>
            </a:avLst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099048" y="4507992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2人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03834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そのほか：てき役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3977640" y="5100066"/>
            <a:ext cx="1005840" cy="288036"/>
          </a:xfrm>
          <a:prstGeom prst="roundRect">
            <a:avLst>
              <a:gd name="adj" fmla="val 19048"/>
            </a:avLst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093208" y="5038344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1人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640080" y="5623560"/>
            <a:ext cx="10911535" cy="658368"/>
          </a:xfrm>
          <a:prstGeom prst="roundRect">
            <a:avLst>
              <a:gd name="adj" fmla="val 16667"/>
            </a:avLst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68680" y="5623560"/>
            <a:ext cx="104543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「まだ きめない」は 0人！　ぜんいんが やりたいことを えらびました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Q4　みに きてくれた 人に、なにを つたえたい？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5272888" cy="603504"/>
          </a:xfrm>
          <a:prstGeom prst="roundRect">
            <a:avLst>
              <a:gd name="adj" fmla="val 15152"/>
            </a:avLst>
          </a:prstGeom>
          <a:solidFill>
            <a:srgbClr val="FDF3F3"/>
          </a:solidFill>
          <a:ln w="12700">
            <a:solidFill>
              <a:srgbClr val="FDF3F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41248" y="1325880"/>
            <a:ext cx="49071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おもしろいと 思ってほしい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278728" y="1325880"/>
            <a:ext cx="5272888" cy="603504"/>
          </a:xfrm>
          <a:prstGeom prst="roundRect">
            <a:avLst>
              <a:gd name="adj" fmla="val 15152"/>
            </a:avLst>
          </a:prstGeom>
          <a:solidFill>
            <a:srgbClr val="FDF3F3"/>
          </a:solidFill>
          <a:ln w="12700">
            <a:solidFill>
              <a:srgbClr val="FDF3F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79896" y="1325880"/>
            <a:ext cx="49071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よろこんでほしい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075688"/>
            <a:ext cx="5272888" cy="603504"/>
          </a:xfrm>
          <a:prstGeom prst="roundRect">
            <a:avLst>
              <a:gd name="adj" fmla="val 15152"/>
            </a:avLst>
          </a:prstGeom>
          <a:solidFill>
            <a:srgbClr val="FDF3F3"/>
          </a:solidFill>
          <a:ln w="12700">
            <a:solidFill>
              <a:srgbClr val="FDF3F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" y="2075688"/>
            <a:ext cx="49071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もりあがりたい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78728" y="2075688"/>
            <a:ext cx="5272888" cy="603504"/>
          </a:xfrm>
          <a:prstGeom prst="roundRect">
            <a:avLst>
              <a:gd name="adj" fmla="val 15152"/>
            </a:avLst>
          </a:prstGeom>
          <a:solidFill>
            <a:srgbClr val="FDF3F3"/>
          </a:solidFill>
          <a:ln w="12700">
            <a:solidFill>
              <a:srgbClr val="FDF3F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79896" y="2075688"/>
            <a:ext cx="49071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たのしませたい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825496"/>
            <a:ext cx="5272888" cy="603504"/>
          </a:xfrm>
          <a:prstGeom prst="roundRect">
            <a:avLst>
              <a:gd name="adj" fmla="val 15152"/>
            </a:avLst>
          </a:prstGeom>
          <a:solidFill>
            <a:srgbClr val="FDF3F3"/>
          </a:solidFill>
          <a:ln w="12700">
            <a:solidFill>
              <a:srgbClr val="FDF3F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1248" y="2825496"/>
            <a:ext cx="49071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えがおに なってほしい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78728" y="2825496"/>
            <a:ext cx="5272888" cy="603504"/>
          </a:xfrm>
          <a:prstGeom prst="roundRect">
            <a:avLst>
              <a:gd name="adj" fmla="val 15152"/>
            </a:avLst>
          </a:prstGeom>
          <a:solidFill>
            <a:srgbClr val="FDF3F3"/>
          </a:solidFill>
          <a:ln w="12700">
            <a:solidFill>
              <a:srgbClr val="FDF3F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79896" y="2825496"/>
            <a:ext cx="49071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「今」を 楽しんでほしい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3575304"/>
            <a:ext cx="5272888" cy="603504"/>
          </a:xfrm>
          <a:prstGeom prst="roundRect">
            <a:avLst>
              <a:gd name="adj" fmla="val 15152"/>
            </a:avLst>
          </a:prstGeom>
          <a:solidFill>
            <a:srgbClr val="FDF3F3"/>
          </a:solidFill>
          <a:ln w="12700">
            <a:solidFill>
              <a:srgbClr val="FDF3F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1248" y="3575304"/>
            <a:ext cx="49071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楽しんでほしい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78728" y="3575304"/>
            <a:ext cx="5272888" cy="603504"/>
          </a:xfrm>
          <a:prstGeom prst="roundRect">
            <a:avLst>
              <a:gd name="adj" fmla="val 15152"/>
            </a:avLst>
          </a:prstGeom>
          <a:solidFill>
            <a:srgbClr val="FDF3F3"/>
          </a:solidFill>
          <a:ln w="12700">
            <a:solidFill>
              <a:srgbClr val="FDF3F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79896" y="3575304"/>
            <a:ext cx="49071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かんしゃの 気もちや 楽しさを つたえたい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4325112"/>
            <a:ext cx="5272888" cy="603504"/>
          </a:xfrm>
          <a:prstGeom prst="roundRect">
            <a:avLst>
              <a:gd name="adj" fmla="val 15152"/>
            </a:avLst>
          </a:prstGeom>
          <a:solidFill>
            <a:srgbClr val="FDF3F3"/>
          </a:solidFill>
          <a:ln w="12700">
            <a:solidFill>
              <a:srgbClr val="FDF3F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41248" y="4325112"/>
            <a:ext cx="49071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できないことでも チャレンジできる すがたを 見てほしい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78728" y="4325112"/>
            <a:ext cx="5272888" cy="603504"/>
          </a:xfrm>
          <a:prstGeom prst="roundRect">
            <a:avLst>
              <a:gd name="adj" fmla="val 15152"/>
            </a:avLst>
          </a:prstGeom>
          <a:solidFill>
            <a:srgbClr val="FDF3F3"/>
          </a:solidFill>
          <a:ln w="12700">
            <a:solidFill>
              <a:srgbClr val="FDF3F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79896" y="4325112"/>
            <a:ext cx="49071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がんばりを 見てほしい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" y="5349240"/>
            <a:ext cx="10911535" cy="658368"/>
          </a:xfrm>
          <a:prstGeom prst="roundRect">
            <a:avLst>
              <a:gd name="adj" fmla="val 16667"/>
            </a:avLst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68680" y="5349240"/>
            <a:ext cx="104543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「楽しんでほしい」「よろこんでほしい」が いちばん 多い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Q5　これだけは いやだ、ということ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17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ダンス・おどる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3977640" y="1485900"/>
            <a:ext cx="6035040" cy="320040"/>
          </a:xfrm>
          <a:prstGeom prst="roundRect">
            <a:avLst>
              <a:gd name="adj" fmla="val 17143"/>
            </a:avLst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22408" y="14173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4人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574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ウクレレ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977640" y="2125980"/>
            <a:ext cx="3017520" cy="320040"/>
          </a:xfrm>
          <a:prstGeom prst="roundRect">
            <a:avLst>
              <a:gd name="adj" fmla="val 17143"/>
            </a:avLst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04888" y="20574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2人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97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へんそう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977640" y="2766060"/>
            <a:ext cx="3017520" cy="320040"/>
          </a:xfrm>
          <a:prstGeom prst="roundRect">
            <a:avLst>
              <a:gd name="adj" fmla="val 17143"/>
            </a:avLst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04888" y="2697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2人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337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うたうのが にがて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3977640" y="3406140"/>
            <a:ext cx="1508760" cy="320040"/>
          </a:xfrm>
          <a:prstGeom prst="roundRect">
            <a:avLst>
              <a:gd name="adj" fmla="val 17143"/>
            </a:avLst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596128" y="33375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1人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977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一人だけに なるのが いや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3977640" y="4046220"/>
            <a:ext cx="1508760" cy="320040"/>
          </a:xfrm>
          <a:prstGeom prst="roundRect">
            <a:avLst>
              <a:gd name="adj" fmla="val 17143"/>
            </a:avLst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96128" y="39776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1人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617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インフル（体ちょう）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3977640" y="4686300"/>
            <a:ext cx="1508760" cy="320040"/>
          </a:xfrm>
          <a:prstGeom prst="roundRect">
            <a:avLst>
              <a:gd name="adj" fmla="val 17143"/>
            </a:avLst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596128" y="46177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1人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40080" y="5440680"/>
            <a:ext cx="10911535" cy="658368"/>
          </a:xfrm>
          <a:prstGeom prst="roundRect">
            <a:avLst>
              <a:gd name="adj" fmla="val 16667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68680" y="5440680"/>
            <a:ext cx="104543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とても たいせつな いけん。むりに しなくて いいように します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E79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べつの日に、こんな いけんも ありました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0911535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691640"/>
            <a:ext cx="102714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ミュージカルが すき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834640"/>
            <a:ext cx="10911535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834640"/>
            <a:ext cx="102714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うたや えんそうの まえに ものがたりが あって、しぜんに 曲に はいる かんじが いい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3977640"/>
            <a:ext cx="10911535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0120" y="3977640"/>
            <a:ext cx="102714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「悪ノ娘」を テーマに した げきを やってみたい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34924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 いけんも、みんなの アイデアと いっしょに 考えます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みんなの いけんから 見えてきたこと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911535" cy="640080"/>
          </a:xfrm>
          <a:prstGeom prst="roundRect">
            <a:avLst>
              <a:gd name="adj" fmla="val 14286"/>
            </a:avLst>
          </a:prstGeom>
          <a:solidFill>
            <a:srgbClr val="FDF3F3"/>
          </a:solidFill>
          <a:ln w="12700">
            <a:solidFill>
              <a:srgbClr val="FDF3F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371600"/>
            <a:ext cx="79854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げき・ものがたりを やりたい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1371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3人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10911535" cy="640080"/>
          </a:xfrm>
          <a:prstGeom prst="roundRect">
            <a:avLst>
              <a:gd name="adj" fmla="val 14286"/>
            </a:avLst>
          </a:prstGeom>
          <a:solidFill>
            <a:srgbClr val="FDF3F3"/>
          </a:solidFill>
          <a:ln w="12700">
            <a:solidFill>
              <a:srgbClr val="FDF3F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148840"/>
            <a:ext cx="79854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たたかい・けんを やりたい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899855" y="21488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2人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2926080"/>
            <a:ext cx="10911535" cy="640080"/>
          </a:xfrm>
          <a:prstGeom prst="roundRect">
            <a:avLst>
              <a:gd name="adj" fmla="val 14286"/>
            </a:avLst>
          </a:prstGeom>
          <a:solidFill>
            <a:srgbClr val="FDF3F3"/>
          </a:solidFill>
          <a:ln w="12700">
            <a:solidFill>
              <a:srgbClr val="FDF3F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2926080"/>
            <a:ext cx="79854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わるやくを やりたい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899855" y="29260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2人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0080" y="3703320"/>
            <a:ext cx="10911535" cy="640080"/>
          </a:xfrm>
          <a:prstGeom prst="roundRect">
            <a:avLst>
              <a:gd name="adj" fmla="val 14286"/>
            </a:avLst>
          </a:prstGeom>
          <a:solidFill>
            <a:srgbClr val="FDF3F3"/>
          </a:solidFill>
          <a:ln w="12700">
            <a:solidFill>
              <a:srgbClr val="FDF3F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3703320"/>
            <a:ext cx="79854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うた・ウクレレを やりたい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899855" y="37033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たくさん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40080" y="4480560"/>
            <a:ext cx="10911535" cy="640080"/>
          </a:xfrm>
          <a:prstGeom prst="roundRect">
            <a:avLst>
              <a:gd name="adj" fmla="val 14286"/>
            </a:avLst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4480560"/>
            <a:ext cx="79854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どうぐを つくりたい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899855" y="44805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6人（いちばん多い）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44068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もしかしたら、ぜんぶ 入れられるかも しれません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きょう ききたいこと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2121408"/>
            <a:ext cx="685800" cy="685800"/>
          </a:xfrm>
          <a:prstGeom prst="ellipse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212140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2011680"/>
            <a:ext cx="9951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この中で いちばん やってみたいことは？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3355848"/>
            <a:ext cx="685800" cy="685800"/>
          </a:xfrm>
          <a:prstGeom prst="ellipse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335584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3246120"/>
            <a:ext cx="9951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ほかに アイデアは ある？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40080" y="4590288"/>
            <a:ext cx="685800" cy="685800"/>
          </a:xfrm>
          <a:prstGeom prst="ellipse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459028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4480560"/>
            <a:ext cx="9951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げき（ものがたり）を やってみたい？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2026-09-14T07:14:53Z</dcterms:created>
  <dcterms:modified xsi:type="dcterms:W3CDTF">2026-09-14T07:14:53Z</dcterms:modified>
</cp:coreProperties>
</file>
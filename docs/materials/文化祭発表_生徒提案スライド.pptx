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61488"/>
            <a:ext cx="12191695" cy="82296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0" y="187452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ぶんかさいの げき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0" y="301752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「ふたつの ものがたり」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F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キボウグループ　／　2026年12月12日　／　7分5秒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どんな おはなし？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554480" cy="640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96596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ひとりぼっち</a:t>
            </a:r>
            <a:pPr indent="0" marL="0">
              <a:buNone/>
            </a:pPr>
            <a:r>
              <a:rPr lang="en-US" sz="3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だった 姫と、</a:t>
            </a:r>
            <a:pPr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ひとりぼっち</a:t>
            </a:r>
            <a:pPr indent="0" marL="0">
              <a:buNone/>
            </a:pPr>
            <a:r>
              <a:rPr lang="en-US" sz="3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だった 剣士が、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9748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おたがいの さみしさを 知って　わかりあう。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3703320"/>
            <a:ext cx="10911535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5400">
            <a:solidFill>
              <a:srgbClr val="F9E79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3950208"/>
            <a:ext cx="10180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わかりあえたことが、ふたりの すくいに なる。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498848"/>
            <a:ext cx="10180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そして これから、ふたりは だれかを 温めるかも しれない。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7150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♪「糸」の ことば　――　織りなす布は いつか誰かを 暖めうるかもしれない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あらすじ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554480" cy="640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25296"/>
            <a:ext cx="1091153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まえはん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11535" cy="1161288"/>
          </a:xfrm>
          <a:prstGeom prst="roundRect">
            <a:avLst>
              <a:gd name="adj" fmla="val 4724"/>
            </a:avLst>
          </a:prstGeom>
          <a:solidFill>
            <a:srgbClr val="FDF3F3"/>
          </a:solidFill>
          <a:ln w="12700">
            <a:solidFill>
              <a:srgbClr val="F2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84832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0848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1975104"/>
            <a:ext cx="949421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ある国に、お姫様が いました。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395728"/>
            <a:ext cx="94942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けらいは みんな こわがって、姫の 目を 見ません。姫は ひとりぼっちでした。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10911535" cy="1161288"/>
          </a:xfrm>
          <a:prstGeom prst="roundRect">
            <a:avLst>
              <a:gd name="adj" fmla="val 4724"/>
            </a:avLst>
          </a:prstGeom>
          <a:solidFill>
            <a:srgbClr val="FDF3F3"/>
          </a:solidFill>
          <a:ln w="12700">
            <a:solidFill>
              <a:srgbClr val="F2DA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3410712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4107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3300984"/>
            <a:ext cx="949421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となりの国から、剣士が やってきます。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721608"/>
            <a:ext cx="94942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剣士は 強くて、負けたことが ありません。でも 剣士も、ずっと ひとりでした。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480560"/>
            <a:ext cx="10911535" cy="1161288"/>
          </a:xfrm>
          <a:prstGeom prst="roundRect">
            <a:avLst>
              <a:gd name="adj" fmla="val 4724"/>
            </a:avLst>
          </a:prstGeom>
          <a:solidFill>
            <a:srgbClr val="FDF3F3"/>
          </a:solidFill>
          <a:ln w="12700">
            <a:solidFill>
              <a:srgbClr val="F2DA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4736592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736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4626864"/>
            <a:ext cx="949421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戦いの あと、剣士は 姫に 剣を 向けます。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1737360" y="5047488"/>
            <a:ext cx="94942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 姫は 逃げません。「だれも わたしの 目を 見ない」——その言葉を 聞いて、剣士は 剣を 下ろします。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あらすじ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554480" cy="640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25296"/>
            <a:ext cx="1091153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うしろはん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11535" cy="1161288"/>
          </a:xfrm>
          <a:prstGeom prst="roundRect">
            <a:avLst>
              <a:gd name="adj" fmla="val 4724"/>
            </a:avLst>
          </a:prstGeom>
          <a:solidFill>
            <a:srgbClr val="FDF3F3"/>
          </a:solidFill>
          <a:ln w="12700">
            <a:solidFill>
              <a:srgbClr val="F2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84832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0848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1975104"/>
            <a:ext cx="949421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「……わたしも、同じだ」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395728"/>
            <a:ext cx="94942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ふたりは、おたがいが 同じ さみしさを かかえていたことに 気づきます。　♪ 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10911535" cy="1161288"/>
          </a:xfrm>
          <a:prstGeom prst="roundRect">
            <a:avLst>
              <a:gd name="adj" fmla="val 4724"/>
            </a:avLst>
          </a:prstGeom>
          <a:solidFill>
            <a:srgbClr val="FDF3F3"/>
          </a:solidFill>
          <a:ln w="12700">
            <a:solidFill>
              <a:srgbClr val="F2DA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3410712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4107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3300984"/>
            <a:ext cx="949421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それを 見ていた けらいたちも、気づきます。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721608"/>
            <a:ext cx="94942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「おれたちも、姫様の 目を 見なかった」。顔を 上げて、はじめて 姫と 目が 合います。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480560"/>
            <a:ext cx="10911535" cy="1161288"/>
          </a:xfrm>
          <a:prstGeom prst="roundRect">
            <a:avLst>
              <a:gd name="adj" fmla="val 4724"/>
            </a:avLst>
          </a:prstGeom>
          <a:solidFill>
            <a:srgbClr val="FDF3F3"/>
          </a:solidFill>
          <a:ln w="12700">
            <a:solidFill>
              <a:srgbClr val="F2DA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4736592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736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4626864"/>
            <a:ext cx="949421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さいごは みんなで、新しい道を 歩きはじめます。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1737360" y="5047488"/>
            <a:ext cx="94942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ひとりぼっちだった ふたりが、いつか だれかを 温めるかも しれません。　♪ カントリーロード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おはなしの ながれ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554480" cy="640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25296"/>
            <a:ext cx="1091153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音が 止まるのは、場面4の しずけさだけ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911535" cy="448056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1371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0:00–0:25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1874520"/>
            <a:ext cx="32004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プロローグ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1874520"/>
            <a:ext cx="39319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語り部が お話を はじめる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509760" y="1874520"/>
            <a:ext cx="1904695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ウクレレ（C）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377440"/>
            <a:ext cx="10911535" cy="448056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377440"/>
            <a:ext cx="1371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0:25–1:00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2377440"/>
            <a:ext cx="32004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場面1・姫の国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2377440"/>
            <a:ext cx="39319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だれも 姫の 目を 見ない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509760" y="2377440"/>
            <a:ext cx="1904695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ウクレレ（Am）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880360"/>
            <a:ext cx="10911535" cy="448056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2880360"/>
            <a:ext cx="1371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1:00–1:20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2880360"/>
            <a:ext cx="32004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場面2・敵国の剣士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2880360"/>
            <a:ext cx="39319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強い 剣士が やってくる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509760" y="2880360"/>
            <a:ext cx="1904695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ボンゴ 一打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383280"/>
            <a:ext cx="10911535" cy="448056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3383280"/>
            <a:ext cx="1371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1:20–1:55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194560" y="3383280"/>
            <a:ext cx="32004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場面3・戦い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3383280"/>
            <a:ext cx="39319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セリフなし。決めポーズだけ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509760" y="3383280"/>
            <a:ext cx="1904695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ボンゴ＋ウクレレ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3886200"/>
            <a:ext cx="10911535" cy="448056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3886200"/>
            <a:ext cx="1371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1:55–2:55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194560" y="3886200"/>
            <a:ext cx="32004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場面4・対峙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0" y="3886200"/>
            <a:ext cx="39319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ふたりとも ひとりぼっちだった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509760" y="3886200"/>
            <a:ext cx="1904695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しずけさ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4389120"/>
            <a:ext cx="10911535" cy="448056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77240" y="4389120"/>
            <a:ext cx="1371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3:00–4:30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2194560" y="4389120"/>
            <a:ext cx="32004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52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♪ 糸　1番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0" y="4389120"/>
            <a:ext cx="39319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姫と剣士が 向かい合って うたう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509760" y="4389120"/>
            <a:ext cx="1904695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ウクレレ＋うた＋手話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" y="4892040"/>
            <a:ext cx="10911535" cy="448056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77240" y="4892040"/>
            <a:ext cx="1371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4:30–5:15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2194560" y="4892040"/>
            <a:ext cx="32004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場面5・わかりあう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0" y="4892040"/>
            <a:ext cx="39319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みんなが 顔を 上げる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9509760" y="4892040"/>
            <a:ext cx="1904695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糸の サビを ハミング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080" y="5394960"/>
            <a:ext cx="10911535" cy="448056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77240" y="5394960"/>
            <a:ext cx="1371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5:20–6:40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2194560" y="5394960"/>
            <a:ext cx="32004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52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♪ カントリーロード　1番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0" y="5394960"/>
            <a:ext cx="39319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みんなで 新しい道を 歩き出す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9509760" y="5394960"/>
            <a:ext cx="1904695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ウクレレ合奏＋うた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40080" y="5897880"/>
            <a:ext cx="10911535" cy="448056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77240" y="5897880"/>
            <a:ext cx="1371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6:40–7:05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2194560" y="5897880"/>
            <a:ext cx="32004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エピローグ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5486400" y="5897880"/>
            <a:ext cx="39319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語り部が お話を とじる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9509760" y="5897880"/>
            <a:ext cx="1904695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サビを ハミング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やくわり（13人）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554480" cy="640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25296"/>
            <a:ext cx="1091153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しばいに 出る 人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09928"/>
            <a:ext cx="10911535" cy="384048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0992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やく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7099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だれが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70992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やること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241280" y="170992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セリフ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10911535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148840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姫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148840"/>
            <a:ext cx="20116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奥平（3年）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2148840"/>
            <a:ext cx="42062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しばい・うた・手話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0" y="2148840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5つ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2715768"/>
            <a:ext cx="10911535" cy="521208"/>
          </a:xfrm>
          <a:prstGeom prst="rect">
            <a:avLst/>
          </a:prstGeom>
          <a:solidFill>
            <a:srgbClr val="F7F8FC"/>
          </a:solidFill>
          <a:ln w="6350">
            <a:solidFill>
              <a:srgbClr val="E4E7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2715768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女大臣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2715768"/>
            <a:ext cx="20116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田中（3年）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2715768"/>
            <a:ext cx="42062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しばい・うた・手話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0" y="2715768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3282696"/>
            <a:ext cx="10911535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3282696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敵国の剣士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0" y="3282696"/>
            <a:ext cx="20116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二宮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852160" y="3282696"/>
            <a:ext cx="42062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しばい・うた・手話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241280" y="3282696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5つ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3849624"/>
            <a:ext cx="10911535" cy="521208"/>
          </a:xfrm>
          <a:prstGeom prst="rect">
            <a:avLst/>
          </a:prstGeom>
          <a:solidFill>
            <a:srgbClr val="F7F8FC"/>
          </a:solidFill>
          <a:ln w="6350">
            <a:solidFill>
              <a:srgbClr val="E4E7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3849624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家来頭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657600" y="3849624"/>
            <a:ext cx="20116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玉井（3年）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852160" y="3849624"/>
            <a:ext cx="42062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しばい・うた・手話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0241280" y="3849624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0080" y="4416552"/>
            <a:ext cx="10911535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4416552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兵士リーダー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3657600" y="4416552"/>
            <a:ext cx="20116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野村（3年）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5852160" y="4416552"/>
            <a:ext cx="42062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しばい・うた・手話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0241280" y="4416552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1つ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0080" y="4983480"/>
            <a:ext cx="10911535" cy="521208"/>
          </a:xfrm>
          <a:prstGeom prst="rect">
            <a:avLst/>
          </a:prstGeom>
          <a:solidFill>
            <a:srgbClr val="F7F8FC"/>
          </a:solidFill>
          <a:ln w="6350">
            <a:solidFill>
              <a:srgbClr val="E4E7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4983480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兵士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3657600" y="4983480"/>
            <a:ext cx="20116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浦山（1年）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5852160" y="4983480"/>
            <a:ext cx="42062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しばい・うた・手話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0241280" y="4983480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1つ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0080" y="5550408"/>
            <a:ext cx="10911535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77240" y="5550408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兵士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3657600" y="5550408"/>
            <a:ext cx="20116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日下部（1年）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5852160" y="5550408"/>
            <a:ext cx="42062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しばい・うた・手話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10241280" y="5550408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1つ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やくわり（13人）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554480" cy="640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25296"/>
            <a:ext cx="1091153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ウクレレ・楽器の 人（語り部も します）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09928"/>
            <a:ext cx="10911535" cy="384048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0992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やく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7099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だれが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70992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やること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241280" y="170992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セリフ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10911535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148840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兵士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148840"/>
            <a:ext cx="20116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西井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2148840"/>
            <a:ext cx="42062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しばい・うた・手話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0" y="2148840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みんなで いっしょに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715768"/>
            <a:ext cx="10911535" cy="521208"/>
          </a:xfrm>
          <a:prstGeom prst="rect">
            <a:avLst/>
          </a:prstGeom>
          <a:solidFill>
            <a:srgbClr val="F7F8FC"/>
          </a:solidFill>
          <a:ln w="6350">
            <a:solidFill>
              <a:srgbClr val="E4E7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2715768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語り部＋ウクレレ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2715768"/>
            <a:ext cx="20116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安蒜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2715768"/>
            <a:ext cx="42062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かたり・ウクレレ・うた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0" y="2715768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3282696"/>
            <a:ext cx="10911535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3282696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語り部＋ウクレレ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0" y="3282696"/>
            <a:ext cx="20116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大畑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852160" y="3282696"/>
            <a:ext cx="42062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かたり・ウクレレ・うた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241280" y="3282696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3849624"/>
            <a:ext cx="10911535" cy="521208"/>
          </a:xfrm>
          <a:prstGeom prst="rect">
            <a:avLst/>
          </a:prstGeom>
          <a:solidFill>
            <a:srgbClr val="F7F8FC"/>
          </a:solidFill>
          <a:ln w="6350">
            <a:solidFill>
              <a:srgbClr val="E4E7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3849624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語り部＋ウクレレ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657600" y="3849624"/>
            <a:ext cx="20116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吉川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852160" y="3849624"/>
            <a:ext cx="42062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かたり・ウクレレ・うた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0241280" y="3849624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1つ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0080" y="4416552"/>
            <a:ext cx="10911535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4416552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語り部＋ウクレレ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3657600" y="4416552"/>
            <a:ext cx="20116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大塚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5852160" y="4416552"/>
            <a:ext cx="42062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かたり・ウクレレ・うた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0241280" y="4416552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1つ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0080" y="4983480"/>
            <a:ext cx="10911535" cy="521208"/>
          </a:xfrm>
          <a:prstGeom prst="rect">
            <a:avLst/>
          </a:prstGeom>
          <a:solidFill>
            <a:srgbClr val="F7F8FC"/>
          </a:solidFill>
          <a:ln w="6350">
            <a:solidFill>
              <a:srgbClr val="E4E7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4983480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打楽器＋うた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3657600" y="4983480"/>
            <a:ext cx="20116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小西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5852160" y="4983480"/>
            <a:ext cx="42062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ボンゴ（戦いだけ）・うた・手話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0241280" y="4983480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1つ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セリフは ぜんぶで 28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554480" cy="640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965960"/>
            <a:ext cx="345429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31750">
            <a:solidFill>
              <a:srgbClr val="2F3C7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212848"/>
            <a:ext cx="345429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29000"/>
            <a:ext cx="345429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ぜんぶの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セリフ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68698" y="1965960"/>
            <a:ext cx="345429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31750">
            <a:solidFill>
              <a:srgbClr val="F9616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68698" y="2212848"/>
            <a:ext cx="345429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4368698" y="3429000"/>
            <a:ext cx="345429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いちばん 多い人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（姫・剣士）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97317" y="1965960"/>
            <a:ext cx="345429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31750">
            <a:solidFill>
              <a:srgbClr val="5B8C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97317" y="2212848"/>
            <a:ext cx="345429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5B8C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8097317" y="3429000"/>
            <a:ext cx="345429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みんなで 声を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そろえる ところ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70916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「はっ！」「姫様を お守りしろ！」などは、みんなで 声を そろえます。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28523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 おぼえるのは、ひとり 1つ〜5つ だけです。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ここが 見せどころ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554480" cy="640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874520"/>
            <a:ext cx="10911535" cy="1325880"/>
          </a:xfrm>
          <a:prstGeom prst="roundRect">
            <a:avLst>
              <a:gd name="adj" fmla="val 4138"/>
            </a:avLst>
          </a:prstGeom>
          <a:solidFill>
            <a:srgbClr val="F7F8FC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74520"/>
            <a:ext cx="82296" cy="13258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002536"/>
            <a:ext cx="102714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　たたかいの ばめん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423160"/>
            <a:ext cx="102714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セリフは ゼロ。ボンゴと ウクレレの 音だけで 戦います。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決めポーズを 4つ。動きまわりません。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10911535" cy="1325880"/>
          </a:xfrm>
          <a:prstGeom prst="roundRect">
            <a:avLst>
              <a:gd name="adj" fmla="val 4138"/>
            </a:avLst>
          </a:prstGeom>
          <a:solidFill>
            <a:srgbClr val="F7F8FC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337560"/>
            <a:ext cx="82296" cy="13258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3465576"/>
            <a:ext cx="102714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　セリフの ない 30びょう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886200"/>
            <a:ext cx="102714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剣士が「わたしも、同じだ」と 言ったあと、だれも しゃべりません。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剣を おく → 姫が おりてくる → 目が 合う。ウクレレの 音だけ。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800600"/>
            <a:ext cx="10911535" cy="1325880"/>
          </a:xfrm>
          <a:prstGeom prst="roundRect">
            <a:avLst>
              <a:gd name="adj" fmla="val 4138"/>
            </a:avLst>
          </a:prstGeom>
          <a:solidFill>
            <a:srgbClr val="F7F8FC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800600"/>
            <a:ext cx="82296" cy="13258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28616"/>
            <a:ext cx="102714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　おなじ サビを 2かい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49240"/>
            <a:ext cx="102714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カントリーロードの サビを、はじめは ふたりで、つぎは 全員で。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ことばは 同じなのに、「わたしの道」が「わたしたちの道」に なります。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これから すること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81328"/>
            <a:ext cx="1554480" cy="64008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2167128"/>
            <a:ext cx="566928" cy="566928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1671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075688"/>
            <a:ext cx="98142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やくわりを きめる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532888"/>
            <a:ext cx="98142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やりたい やくを 言ってください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191256"/>
            <a:ext cx="566928" cy="566928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1912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3099816"/>
            <a:ext cx="98142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セリフを おぼえる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557016"/>
            <a:ext cx="98142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1つ〜5つ だけ。みんなで 言うところも あります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215384"/>
            <a:ext cx="566928" cy="566928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42153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23944"/>
            <a:ext cx="98142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どうぐ・いしょうを つくる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4581144"/>
            <a:ext cx="98142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けん・かんむり・ぼうし。つくりたい人は たくさん います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5239512"/>
            <a:ext cx="566928" cy="566928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52395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5148072"/>
            <a:ext cx="98142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うたと ウクレレの れんしゅう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5605272"/>
            <a:ext cx="98142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糸と カントリーロード。1番だけ うたいます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989320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温かい心を、あなたに。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2026-09-24T13:16:47Z</dcterms:created>
  <dcterms:modified xsi:type="dcterms:W3CDTF">2026-09-24T13:16:47Z</dcterms:modified>
</cp:coreProperties>
</file>